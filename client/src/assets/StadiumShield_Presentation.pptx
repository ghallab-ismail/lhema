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3FD8"/>
    <a:srgbClr val="3F6FF3"/>
    <a:srgbClr val="431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454-FCC2-19B7-0CEC-4BD84209C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59AAF-C64F-3152-022C-4982B1274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5080-4E16-9EEB-6540-6674447B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7F4F-A886-1227-3CA2-9E2F6184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B3E99-B117-20E9-B4F2-A28327DD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0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1B5F-CDEB-5EEC-AAB6-E4F6C9E6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E837-12DD-ACE5-8A7C-78783403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CC28-C3DE-7747-5232-DD526800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4E5D-8F0F-1432-78E5-0DF300F6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EFEE-1ABC-7F42-04BE-EC4A54B1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4767-AF8B-D278-E4B3-9E531F60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66C1-6C53-3E57-CE86-885A974E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8203F-CF90-1C30-7154-A2329A1C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CA468-3664-C32C-3879-99363202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025D5-BEEC-262D-0478-74302E08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7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DB95-5D5C-662C-DAA4-99D0683E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E6E26-3F0A-B566-5F91-1BB32772F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45A4D-E1CC-22D9-752B-4B09F51EE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69054-718C-5413-2ADF-7E4B5AA2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E4B11-20AB-F547-1E3E-11DA5F5A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071DF-C742-CCC3-54C3-EA4111B4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0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955B-7C7E-F34B-9F6A-0FBE9089E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A21B5-5BBE-FB69-D689-C92057E4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A973E-43CB-6BAB-BE05-C56E51317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6F288-6986-967A-91E9-2D5EFE6F0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E49764-0210-9CB0-D0D4-2B0C3EAF9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AEDA5-3975-596D-8F41-DC734678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5652F-528A-DB37-4C53-15719F8C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0BF59-C4C2-7151-A805-15541A43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2562-B63A-FFB0-5EFD-BFC3B667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18DC1-AE0B-53C9-365D-96A57458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A5204-9015-2AB7-E6C1-AA95CE68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C29C2-2607-6A4B-4434-D2603C78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4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E1388-10E0-5353-12E1-B6CE953F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6751E-FC0A-A0CE-C871-176A5572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9D2AA-8DD6-BC72-3516-F151BA9A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5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039-5D19-4D01-A8FF-B043435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3417B-A3DA-8E6F-D55C-A672B984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36BD6-30B1-814B-CE84-EE44FCFFF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CA6D-A612-240E-5FA5-7A07F695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8FEFA-825C-D7FD-4C3C-03398A6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1AE83-4C3B-0CEF-D10C-28961888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5B09-A842-A35D-A8C8-721089D1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94287-51A2-1870-B4CD-EB75523D9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B9B6C-5C5B-7753-F48B-86524F038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939E2-47FC-786E-1E5C-71C207A9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80DB1-2973-CF6C-8D5A-96324ECB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45957-5F6D-2E6C-7BA1-74DF9DE3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3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27B2-54A7-5284-EE5C-C3988004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0BD6A-A3B1-9B70-B4A4-5D3AB7401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AC8E0-991A-20EF-25E1-ED9A0798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842AE-8498-CA30-3513-A1B6632E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F369-72D3-483B-6933-CFB8BEDB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D86EC-FA5C-2C62-DF1F-F24192A9B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2CE43-F125-1353-35AA-5AF5112FE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AE77A-8F00-34C9-CFC6-B8FCD121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3C002-A294-9CA6-2BC1-52216EEC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FEE5F-0A7A-9B08-8274-F6EFB9DB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ADB65-7951-98B3-788E-D4A6CD54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71DD5-BEEA-D15F-8236-9CD9A45C8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8DCF1-456E-2623-E764-443AF789B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A601C-F52C-471D-8203-D936BAC3F0A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C8414-2B51-B73B-4BE7-A639E6FF8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7AAB5-6FFE-538A-4995-A7821ABFD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6A602-DD19-461E-85D3-1A0E16FA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2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371234-CCE2-779C-4A9C-576EC9AD975B}"/>
              </a:ext>
            </a:extLst>
          </p:cNvPr>
          <p:cNvSpPr/>
          <p:nvPr/>
        </p:nvSpPr>
        <p:spPr>
          <a:xfrm>
            <a:off x="2533035" y="1218542"/>
            <a:ext cx="1042264" cy="1042264"/>
          </a:xfrm>
          <a:prstGeom prst="roundRect">
            <a:avLst/>
          </a:prstGeom>
          <a:solidFill>
            <a:srgbClr val="5B3F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D548E62-DFA1-BF1E-4C78-C6B8DEB2B5B5}"/>
              </a:ext>
            </a:extLst>
          </p:cNvPr>
          <p:cNvSpPr/>
          <p:nvPr/>
        </p:nvSpPr>
        <p:spPr>
          <a:xfrm>
            <a:off x="869744" y="2319850"/>
            <a:ext cx="476614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latin typeface="Poppins" panose="00000500000000000000" pitchFamily="2" charset="0"/>
                <a:ea typeface="Outfit Medium" pitchFamily="34" charset="-122"/>
                <a:cs typeface="Poppins" panose="00000500000000000000" pitchFamily="2" charset="0"/>
              </a:rPr>
              <a:t>StadiumShield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827B99A-7582-9F36-E325-EC332671F36D}"/>
              </a:ext>
            </a:extLst>
          </p:cNvPr>
          <p:cNvSpPr/>
          <p:nvPr/>
        </p:nvSpPr>
        <p:spPr>
          <a:xfrm>
            <a:off x="787538" y="2964442"/>
            <a:ext cx="49839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Outfit Medium" pitchFamily="34" charset="-122"/>
                <a:cs typeface="Poppins" panose="00000500000000000000" pitchFamily="2" charset="0"/>
              </a:rPr>
              <a:t>Smart Stadium Security and Monitoring System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FE37AFB-ADCC-566A-0D0C-F3C9214728ED}"/>
              </a:ext>
            </a:extLst>
          </p:cNvPr>
          <p:cNvSpPr/>
          <p:nvPr/>
        </p:nvSpPr>
        <p:spPr>
          <a:xfrm>
            <a:off x="869744" y="3727872"/>
            <a:ext cx="2902811" cy="2315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Présenté</a:t>
            </a: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 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Issam YOURANI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Ismail GHALLAB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Ayoub BERAOUZ 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Marwane</a:t>
            </a: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LAKSIOUER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Mohammed EL KHARRAZ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B532DE-00F1-7E67-1DFE-782FF22E8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grpSp>
        <p:nvGrpSpPr>
          <p:cNvPr id="14" name="Graphic 10">
            <a:extLst>
              <a:ext uri="{FF2B5EF4-FFF2-40B4-BE49-F238E27FC236}">
                <a16:creationId xmlns:a16="http://schemas.microsoft.com/office/drawing/2014/main" id="{8771989D-3D7A-6913-B982-82F77420C2B2}"/>
              </a:ext>
            </a:extLst>
          </p:cNvPr>
          <p:cNvGrpSpPr/>
          <p:nvPr/>
        </p:nvGrpSpPr>
        <p:grpSpPr>
          <a:xfrm>
            <a:off x="7104380" y="6043012"/>
            <a:ext cx="383540" cy="451985"/>
            <a:chOff x="6648717" y="2731747"/>
            <a:chExt cx="1183272" cy="1394437"/>
          </a:xfrm>
          <a:solidFill>
            <a:srgbClr val="FFFFFF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630398-D9F4-F121-CEC4-FEAB66418CD0}"/>
                </a:ext>
              </a:extLst>
            </p:cNvPr>
            <p:cNvSpPr/>
            <p:nvPr/>
          </p:nvSpPr>
          <p:spPr>
            <a:xfrm>
              <a:off x="6648717" y="2731747"/>
              <a:ext cx="1183272" cy="1394437"/>
            </a:xfrm>
            <a:custGeom>
              <a:avLst/>
              <a:gdLst>
                <a:gd name="csX0" fmla="*/ 1151461 w 1183272"/>
                <a:gd name="csY0" fmla="*/ 249339 h 1394437"/>
                <a:gd name="csX1" fmla="*/ 871716 w 1183272"/>
                <a:gd name="csY1" fmla="*/ 150019 h 1394437"/>
                <a:gd name="csX2" fmla="*/ 614809 w 1183272"/>
                <a:gd name="csY2" fmla="*/ 14399 h 1394437"/>
                <a:gd name="csX3" fmla="*/ 591570 w 1183272"/>
                <a:gd name="csY3" fmla="*/ 0 h 1394437"/>
                <a:gd name="csX4" fmla="*/ 568732 w 1183272"/>
                <a:gd name="csY4" fmla="*/ 14801 h 1394437"/>
                <a:gd name="csX5" fmla="*/ 311825 w 1183272"/>
                <a:gd name="csY5" fmla="*/ 150421 h 1394437"/>
                <a:gd name="csX6" fmla="*/ 31678 w 1183272"/>
                <a:gd name="csY6" fmla="*/ 249272 h 1394437"/>
                <a:gd name="csX7" fmla="*/ 0 w 1183272"/>
                <a:gd name="csY7" fmla="*/ 257309 h 1394437"/>
                <a:gd name="csX8" fmla="*/ 0 w 1183272"/>
                <a:gd name="csY8" fmla="*/ 609719 h 1394437"/>
                <a:gd name="csX9" fmla="*/ 577237 w 1183272"/>
                <a:gd name="csY9" fmla="*/ 1389348 h 1394437"/>
                <a:gd name="csX10" fmla="*/ 591637 w 1183272"/>
                <a:gd name="csY10" fmla="*/ 1394437 h 1394437"/>
                <a:gd name="csX11" fmla="*/ 606036 w 1183272"/>
                <a:gd name="csY11" fmla="*/ 1389348 h 1394437"/>
                <a:gd name="csX12" fmla="*/ 1183273 w 1183272"/>
                <a:gd name="csY12" fmla="*/ 609719 h 1394437"/>
                <a:gd name="csX13" fmla="*/ 1183273 w 1183272"/>
                <a:gd name="csY13" fmla="*/ 257309 h 1394437"/>
                <a:gd name="csX14" fmla="*/ 1151595 w 1183272"/>
                <a:gd name="csY14" fmla="*/ 249272 h 1394437"/>
                <a:gd name="csX15" fmla="*/ 1151461 w 1183272"/>
                <a:gd name="csY15" fmla="*/ 249272 h 1394437"/>
                <a:gd name="csX16" fmla="*/ 1098687 w 1183272"/>
                <a:gd name="csY16" fmla="*/ 609786 h 1394437"/>
                <a:gd name="csX17" fmla="*/ 591637 w 1183272"/>
                <a:gd name="csY17" fmla="*/ 1304024 h 1394437"/>
                <a:gd name="csX18" fmla="*/ 84586 w 1183272"/>
                <a:gd name="csY18" fmla="*/ 609786 h 1394437"/>
                <a:gd name="csX19" fmla="*/ 84586 w 1183272"/>
                <a:gd name="csY19" fmla="*/ 322875 h 1394437"/>
                <a:gd name="csX20" fmla="*/ 345713 w 1183272"/>
                <a:gd name="csY20" fmla="*/ 227774 h 1394437"/>
                <a:gd name="csX21" fmla="*/ 591637 w 1183272"/>
                <a:gd name="csY21" fmla="*/ 100995 h 1394437"/>
                <a:gd name="csX22" fmla="*/ 837560 w 1183272"/>
                <a:gd name="csY22" fmla="*/ 227774 h 1394437"/>
                <a:gd name="csX23" fmla="*/ 1098687 w 1183272"/>
                <a:gd name="csY23" fmla="*/ 322875 h 1394437"/>
                <a:gd name="csX24" fmla="*/ 1098687 w 1183272"/>
                <a:gd name="csY24" fmla="*/ 609786 h 1394437"/>
                <a:gd name="csX25" fmla="*/ 1098687 w 1183272"/>
                <a:gd name="csY25" fmla="*/ 609786 h 1394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83272" h="1394437">
                  <a:moveTo>
                    <a:pt x="1151461" y="249339"/>
                  </a:moveTo>
                  <a:cubicBezTo>
                    <a:pt x="1055690" y="223755"/>
                    <a:pt x="962196" y="190604"/>
                    <a:pt x="871716" y="150019"/>
                  </a:cubicBezTo>
                  <a:cubicBezTo>
                    <a:pt x="782776" y="111442"/>
                    <a:pt x="696851" y="66102"/>
                    <a:pt x="614809" y="14399"/>
                  </a:cubicBezTo>
                  <a:lnTo>
                    <a:pt x="591570" y="0"/>
                  </a:lnTo>
                  <a:lnTo>
                    <a:pt x="568732" y="14801"/>
                  </a:lnTo>
                  <a:cubicBezTo>
                    <a:pt x="486690" y="66504"/>
                    <a:pt x="400764" y="111844"/>
                    <a:pt x="311825" y="150421"/>
                  </a:cubicBezTo>
                  <a:cubicBezTo>
                    <a:pt x="221211" y="190805"/>
                    <a:pt x="127583" y="223890"/>
                    <a:pt x="31678" y="249272"/>
                  </a:cubicBezTo>
                  <a:lnTo>
                    <a:pt x="0" y="257309"/>
                  </a:lnTo>
                  <a:lnTo>
                    <a:pt x="0" y="609719"/>
                  </a:lnTo>
                  <a:cubicBezTo>
                    <a:pt x="0" y="1175504"/>
                    <a:pt x="571746" y="1387205"/>
                    <a:pt x="577237" y="1389348"/>
                  </a:cubicBezTo>
                  <a:lnTo>
                    <a:pt x="591637" y="1394437"/>
                  </a:lnTo>
                  <a:lnTo>
                    <a:pt x="606036" y="1389348"/>
                  </a:lnTo>
                  <a:cubicBezTo>
                    <a:pt x="611929" y="1389348"/>
                    <a:pt x="1183273" y="1175973"/>
                    <a:pt x="1183273" y="609719"/>
                  </a:cubicBezTo>
                  <a:lnTo>
                    <a:pt x="1183273" y="257309"/>
                  </a:lnTo>
                  <a:lnTo>
                    <a:pt x="1151595" y="249272"/>
                  </a:lnTo>
                  <a:lnTo>
                    <a:pt x="1151461" y="249272"/>
                  </a:lnTo>
                  <a:close/>
                  <a:moveTo>
                    <a:pt x="1098687" y="609786"/>
                  </a:moveTo>
                  <a:cubicBezTo>
                    <a:pt x="1098687" y="1074576"/>
                    <a:pt x="676156" y="1269400"/>
                    <a:pt x="591637" y="1304024"/>
                  </a:cubicBezTo>
                  <a:cubicBezTo>
                    <a:pt x="507117" y="1269400"/>
                    <a:pt x="84586" y="1074175"/>
                    <a:pt x="84586" y="609786"/>
                  </a:cubicBezTo>
                  <a:lnTo>
                    <a:pt x="84586" y="322875"/>
                  </a:lnTo>
                  <a:cubicBezTo>
                    <a:pt x="173727" y="297224"/>
                    <a:pt x="260992" y="265480"/>
                    <a:pt x="345713" y="227774"/>
                  </a:cubicBezTo>
                  <a:cubicBezTo>
                    <a:pt x="430433" y="191140"/>
                    <a:pt x="512609" y="148813"/>
                    <a:pt x="591637" y="100995"/>
                  </a:cubicBezTo>
                  <a:cubicBezTo>
                    <a:pt x="670664" y="148746"/>
                    <a:pt x="752840" y="191140"/>
                    <a:pt x="837560" y="227774"/>
                  </a:cubicBezTo>
                  <a:cubicBezTo>
                    <a:pt x="922281" y="265480"/>
                    <a:pt x="1009546" y="297224"/>
                    <a:pt x="1098687" y="322875"/>
                  </a:cubicBezTo>
                  <a:lnTo>
                    <a:pt x="1098687" y="609786"/>
                  </a:lnTo>
                  <a:lnTo>
                    <a:pt x="1098687" y="609786"/>
                  </a:lnTo>
                  <a:close/>
                </a:path>
              </a:pathLst>
            </a:custGeom>
            <a:solidFill>
              <a:srgbClr val="FFFFFF"/>
            </a:solidFill>
            <a:ln w="6697" cap="flat">
              <a:noFill/>
              <a:prstDash val="solid"/>
              <a:miter/>
            </a:ln>
          </p:spPr>
        </p:sp>
        <p:grpSp>
          <p:nvGrpSpPr>
            <p:cNvPr id="16" name="Graphic 10">
              <a:extLst>
                <a:ext uri="{FF2B5EF4-FFF2-40B4-BE49-F238E27FC236}">
                  <a16:creationId xmlns:a16="http://schemas.microsoft.com/office/drawing/2014/main" id="{8A07EF67-92E4-F2CF-5341-9ED8F849CABA}"/>
                </a:ext>
              </a:extLst>
            </p:cNvPr>
            <p:cNvGrpSpPr/>
            <p:nvPr/>
          </p:nvGrpSpPr>
          <p:grpSpPr>
            <a:xfrm>
              <a:off x="6659098" y="2800796"/>
              <a:ext cx="1162578" cy="1246562"/>
              <a:chOff x="6659098" y="2800796"/>
              <a:chExt cx="1162578" cy="1246562"/>
            </a:xfrm>
            <a:solidFill>
              <a:srgbClr val="FFFFFF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01AD689-03D3-B0CD-49DC-B088AE6F4182}"/>
                  </a:ext>
                </a:extLst>
              </p:cNvPr>
              <p:cNvSpPr/>
              <p:nvPr/>
            </p:nvSpPr>
            <p:spPr>
              <a:xfrm>
                <a:off x="7650160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AED673-0CA6-55F6-B93C-2468E7B66992}"/>
                  </a:ext>
                </a:extLst>
              </p:cNvPr>
              <p:cNvSpPr/>
              <p:nvPr/>
            </p:nvSpPr>
            <p:spPr>
              <a:xfrm rot="-190200">
                <a:off x="7096062" y="3170554"/>
                <a:ext cx="288384" cy="288384"/>
              </a:xfrm>
              <a:custGeom>
                <a:avLst/>
                <a:gdLst>
                  <a:gd name="csX0" fmla="*/ 288384 w 288384"/>
                  <a:gd name="csY0" fmla="*/ 144192 h 288384"/>
                  <a:gd name="csX1" fmla="*/ 144192 w 288384"/>
                  <a:gd name="csY1" fmla="*/ 288384 h 288384"/>
                  <a:gd name="csX2" fmla="*/ 0 w 288384"/>
                  <a:gd name="csY2" fmla="*/ 144192 h 288384"/>
                  <a:gd name="csX3" fmla="*/ 144192 w 288384"/>
                  <a:gd name="csY3" fmla="*/ 0 h 288384"/>
                  <a:gd name="csX4" fmla="*/ 288384 w 288384"/>
                  <a:gd name="csY4" fmla="*/ 144192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8384" h="288384">
                    <a:moveTo>
                      <a:pt x="288384" y="144192"/>
                    </a:moveTo>
                    <a:cubicBezTo>
                      <a:pt x="288384" y="223827"/>
                      <a:pt x="223827" y="288384"/>
                      <a:pt x="144192" y="288384"/>
                    </a:cubicBezTo>
                    <a:cubicBezTo>
                      <a:pt x="64557" y="288384"/>
                      <a:pt x="0" y="223827"/>
                      <a:pt x="0" y="144192"/>
                    </a:cubicBezTo>
                    <a:cubicBezTo>
                      <a:pt x="0" y="64557"/>
                      <a:pt x="64557" y="0"/>
                      <a:pt x="144192" y="0"/>
                    </a:cubicBezTo>
                    <a:cubicBezTo>
                      <a:pt x="223827" y="0"/>
                      <a:pt x="288384" y="64557"/>
                      <a:pt x="288384" y="144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5D340DC-B45E-E67D-E5F7-913FC9E73481}"/>
                  </a:ext>
                </a:extLst>
              </p:cNvPr>
              <p:cNvSpPr/>
              <p:nvPr/>
            </p:nvSpPr>
            <p:spPr>
              <a:xfrm>
                <a:off x="6659098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782DAE2-54CA-B701-DA10-150AD6BEDA0B}"/>
                  </a:ext>
                </a:extLst>
              </p:cNvPr>
              <p:cNvSpPr/>
              <p:nvPr/>
            </p:nvSpPr>
            <p:spPr>
              <a:xfrm>
                <a:off x="7189923" y="2800796"/>
                <a:ext cx="101128" cy="1246562"/>
              </a:xfrm>
              <a:custGeom>
                <a:avLst/>
                <a:gdLst>
                  <a:gd name="csX0" fmla="*/ 0 w 101128"/>
                  <a:gd name="csY0" fmla="*/ 0 h 1246562"/>
                  <a:gd name="csX1" fmla="*/ 101129 w 101128"/>
                  <a:gd name="csY1" fmla="*/ 0 h 1246562"/>
                  <a:gd name="csX2" fmla="*/ 101129 w 101128"/>
                  <a:gd name="csY2" fmla="*/ 1246562 h 1246562"/>
                  <a:gd name="csX3" fmla="*/ 0 w 101128"/>
                  <a:gd name="csY3" fmla="*/ 1246562 h 12465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1128" h="1246562">
                    <a:moveTo>
                      <a:pt x="0" y="0"/>
                    </a:moveTo>
                    <a:lnTo>
                      <a:pt x="101129" y="0"/>
                    </a:lnTo>
                    <a:lnTo>
                      <a:pt x="101129" y="1246562"/>
                    </a:lnTo>
                    <a:lnTo>
                      <a:pt x="0" y="1246562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</p:grpSp>
      </p:grpSp>
      <p:grpSp>
        <p:nvGrpSpPr>
          <p:cNvPr id="22" name="Graphic 10">
            <a:extLst>
              <a:ext uri="{FF2B5EF4-FFF2-40B4-BE49-F238E27FC236}">
                <a16:creationId xmlns:a16="http://schemas.microsoft.com/office/drawing/2014/main" id="{AC60655D-E136-1646-F5D4-9DDE53CF9ED2}"/>
              </a:ext>
            </a:extLst>
          </p:cNvPr>
          <p:cNvGrpSpPr/>
          <p:nvPr/>
        </p:nvGrpSpPr>
        <p:grpSpPr>
          <a:xfrm>
            <a:off x="2733426" y="1383786"/>
            <a:ext cx="663209" cy="781563"/>
            <a:chOff x="6648717" y="2731747"/>
            <a:chExt cx="1183272" cy="1394437"/>
          </a:xfrm>
          <a:solidFill>
            <a:srgbClr val="FFFFFF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61CB94D-AA2F-8A89-AC8E-3B45EC1380CC}"/>
                </a:ext>
              </a:extLst>
            </p:cNvPr>
            <p:cNvSpPr/>
            <p:nvPr/>
          </p:nvSpPr>
          <p:spPr>
            <a:xfrm>
              <a:off x="6648717" y="2731747"/>
              <a:ext cx="1183272" cy="1394437"/>
            </a:xfrm>
            <a:custGeom>
              <a:avLst/>
              <a:gdLst>
                <a:gd name="csX0" fmla="*/ 1151461 w 1183272"/>
                <a:gd name="csY0" fmla="*/ 249339 h 1394437"/>
                <a:gd name="csX1" fmla="*/ 871716 w 1183272"/>
                <a:gd name="csY1" fmla="*/ 150019 h 1394437"/>
                <a:gd name="csX2" fmla="*/ 614809 w 1183272"/>
                <a:gd name="csY2" fmla="*/ 14399 h 1394437"/>
                <a:gd name="csX3" fmla="*/ 591570 w 1183272"/>
                <a:gd name="csY3" fmla="*/ 0 h 1394437"/>
                <a:gd name="csX4" fmla="*/ 568732 w 1183272"/>
                <a:gd name="csY4" fmla="*/ 14801 h 1394437"/>
                <a:gd name="csX5" fmla="*/ 311825 w 1183272"/>
                <a:gd name="csY5" fmla="*/ 150421 h 1394437"/>
                <a:gd name="csX6" fmla="*/ 31678 w 1183272"/>
                <a:gd name="csY6" fmla="*/ 249272 h 1394437"/>
                <a:gd name="csX7" fmla="*/ 0 w 1183272"/>
                <a:gd name="csY7" fmla="*/ 257309 h 1394437"/>
                <a:gd name="csX8" fmla="*/ 0 w 1183272"/>
                <a:gd name="csY8" fmla="*/ 609719 h 1394437"/>
                <a:gd name="csX9" fmla="*/ 577237 w 1183272"/>
                <a:gd name="csY9" fmla="*/ 1389348 h 1394437"/>
                <a:gd name="csX10" fmla="*/ 591637 w 1183272"/>
                <a:gd name="csY10" fmla="*/ 1394437 h 1394437"/>
                <a:gd name="csX11" fmla="*/ 606036 w 1183272"/>
                <a:gd name="csY11" fmla="*/ 1389348 h 1394437"/>
                <a:gd name="csX12" fmla="*/ 1183273 w 1183272"/>
                <a:gd name="csY12" fmla="*/ 609719 h 1394437"/>
                <a:gd name="csX13" fmla="*/ 1183273 w 1183272"/>
                <a:gd name="csY13" fmla="*/ 257309 h 1394437"/>
                <a:gd name="csX14" fmla="*/ 1151595 w 1183272"/>
                <a:gd name="csY14" fmla="*/ 249272 h 1394437"/>
                <a:gd name="csX15" fmla="*/ 1151461 w 1183272"/>
                <a:gd name="csY15" fmla="*/ 249272 h 1394437"/>
                <a:gd name="csX16" fmla="*/ 1098687 w 1183272"/>
                <a:gd name="csY16" fmla="*/ 609786 h 1394437"/>
                <a:gd name="csX17" fmla="*/ 591637 w 1183272"/>
                <a:gd name="csY17" fmla="*/ 1304024 h 1394437"/>
                <a:gd name="csX18" fmla="*/ 84586 w 1183272"/>
                <a:gd name="csY18" fmla="*/ 609786 h 1394437"/>
                <a:gd name="csX19" fmla="*/ 84586 w 1183272"/>
                <a:gd name="csY19" fmla="*/ 322875 h 1394437"/>
                <a:gd name="csX20" fmla="*/ 345713 w 1183272"/>
                <a:gd name="csY20" fmla="*/ 227774 h 1394437"/>
                <a:gd name="csX21" fmla="*/ 591637 w 1183272"/>
                <a:gd name="csY21" fmla="*/ 100995 h 1394437"/>
                <a:gd name="csX22" fmla="*/ 837560 w 1183272"/>
                <a:gd name="csY22" fmla="*/ 227774 h 1394437"/>
                <a:gd name="csX23" fmla="*/ 1098687 w 1183272"/>
                <a:gd name="csY23" fmla="*/ 322875 h 1394437"/>
                <a:gd name="csX24" fmla="*/ 1098687 w 1183272"/>
                <a:gd name="csY24" fmla="*/ 609786 h 1394437"/>
                <a:gd name="csX25" fmla="*/ 1098687 w 1183272"/>
                <a:gd name="csY25" fmla="*/ 609786 h 1394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83272" h="1394437">
                  <a:moveTo>
                    <a:pt x="1151461" y="249339"/>
                  </a:moveTo>
                  <a:cubicBezTo>
                    <a:pt x="1055690" y="223755"/>
                    <a:pt x="962196" y="190604"/>
                    <a:pt x="871716" y="150019"/>
                  </a:cubicBezTo>
                  <a:cubicBezTo>
                    <a:pt x="782776" y="111442"/>
                    <a:pt x="696851" y="66102"/>
                    <a:pt x="614809" y="14399"/>
                  </a:cubicBezTo>
                  <a:lnTo>
                    <a:pt x="591570" y="0"/>
                  </a:lnTo>
                  <a:lnTo>
                    <a:pt x="568732" y="14801"/>
                  </a:lnTo>
                  <a:cubicBezTo>
                    <a:pt x="486690" y="66504"/>
                    <a:pt x="400764" y="111844"/>
                    <a:pt x="311825" y="150421"/>
                  </a:cubicBezTo>
                  <a:cubicBezTo>
                    <a:pt x="221211" y="190805"/>
                    <a:pt x="127583" y="223890"/>
                    <a:pt x="31678" y="249272"/>
                  </a:cubicBezTo>
                  <a:lnTo>
                    <a:pt x="0" y="257309"/>
                  </a:lnTo>
                  <a:lnTo>
                    <a:pt x="0" y="609719"/>
                  </a:lnTo>
                  <a:cubicBezTo>
                    <a:pt x="0" y="1175504"/>
                    <a:pt x="571746" y="1387205"/>
                    <a:pt x="577237" y="1389348"/>
                  </a:cubicBezTo>
                  <a:lnTo>
                    <a:pt x="591637" y="1394437"/>
                  </a:lnTo>
                  <a:lnTo>
                    <a:pt x="606036" y="1389348"/>
                  </a:lnTo>
                  <a:cubicBezTo>
                    <a:pt x="611929" y="1389348"/>
                    <a:pt x="1183273" y="1175973"/>
                    <a:pt x="1183273" y="609719"/>
                  </a:cubicBezTo>
                  <a:lnTo>
                    <a:pt x="1183273" y="257309"/>
                  </a:lnTo>
                  <a:lnTo>
                    <a:pt x="1151595" y="249272"/>
                  </a:lnTo>
                  <a:lnTo>
                    <a:pt x="1151461" y="249272"/>
                  </a:lnTo>
                  <a:close/>
                  <a:moveTo>
                    <a:pt x="1098687" y="609786"/>
                  </a:moveTo>
                  <a:cubicBezTo>
                    <a:pt x="1098687" y="1074576"/>
                    <a:pt x="676156" y="1269400"/>
                    <a:pt x="591637" y="1304024"/>
                  </a:cubicBezTo>
                  <a:cubicBezTo>
                    <a:pt x="507117" y="1269400"/>
                    <a:pt x="84586" y="1074175"/>
                    <a:pt x="84586" y="609786"/>
                  </a:cubicBezTo>
                  <a:lnTo>
                    <a:pt x="84586" y="322875"/>
                  </a:lnTo>
                  <a:cubicBezTo>
                    <a:pt x="173727" y="297224"/>
                    <a:pt x="260992" y="265480"/>
                    <a:pt x="345713" y="227774"/>
                  </a:cubicBezTo>
                  <a:cubicBezTo>
                    <a:pt x="430433" y="191140"/>
                    <a:pt x="512609" y="148813"/>
                    <a:pt x="591637" y="100995"/>
                  </a:cubicBezTo>
                  <a:cubicBezTo>
                    <a:pt x="670664" y="148746"/>
                    <a:pt x="752840" y="191140"/>
                    <a:pt x="837560" y="227774"/>
                  </a:cubicBezTo>
                  <a:cubicBezTo>
                    <a:pt x="922281" y="265480"/>
                    <a:pt x="1009546" y="297224"/>
                    <a:pt x="1098687" y="322875"/>
                  </a:cubicBezTo>
                  <a:lnTo>
                    <a:pt x="1098687" y="609786"/>
                  </a:lnTo>
                  <a:lnTo>
                    <a:pt x="1098687" y="609786"/>
                  </a:lnTo>
                  <a:close/>
                </a:path>
              </a:pathLst>
            </a:custGeom>
            <a:solidFill>
              <a:srgbClr val="FFFFFF"/>
            </a:solidFill>
            <a:ln w="6697" cap="flat">
              <a:noFill/>
              <a:prstDash val="solid"/>
              <a:miter/>
            </a:ln>
          </p:spPr>
        </p:sp>
        <p:grpSp>
          <p:nvGrpSpPr>
            <p:cNvPr id="24" name="Graphic 10">
              <a:extLst>
                <a:ext uri="{FF2B5EF4-FFF2-40B4-BE49-F238E27FC236}">
                  <a16:creationId xmlns:a16="http://schemas.microsoft.com/office/drawing/2014/main" id="{5CCCC4C8-7217-9FEA-0CB7-0CF3BA4C1996}"/>
                </a:ext>
              </a:extLst>
            </p:cNvPr>
            <p:cNvGrpSpPr/>
            <p:nvPr/>
          </p:nvGrpSpPr>
          <p:grpSpPr>
            <a:xfrm>
              <a:off x="6659098" y="2800796"/>
              <a:ext cx="1162578" cy="1246562"/>
              <a:chOff x="6659098" y="2800796"/>
              <a:chExt cx="1162578" cy="1246562"/>
            </a:xfrm>
            <a:solidFill>
              <a:srgbClr val="FFFFFF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F469F13-402A-2C3B-BBFC-F3ED8AF77C4E}"/>
                  </a:ext>
                </a:extLst>
              </p:cNvPr>
              <p:cNvSpPr/>
              <p:nvPr/>
            </p:nvSpPr>
            <p:spPr>
              <a:xfrm>
                <a:off x="7650160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0116C8D-FEE3-7D3F-A938-E144C7B2C6E7}"/>
                  </a:ext>
                </a:extLst>
              </p:cNvPr>
              <p:cNvSpPr/>
              <p:nvPr/>
            </p:nvSpPr>
            <p:spPr>
              <a:xfrm rot="-190200">
                <a:off x="7096062" y="3170554"/>
                <a:ext cx="288384" cy="288384"/>
              </a:xfrm>
              <a:custGeom>
                <a:avLst/>
                <a:gdLst>
                  <a:gd name="csX0" fmla="*/ 288384 w 288384"/>
                  <a:gd name="csY0" fmla="*/ 144192 h 288384"/>
                  <a:gd name="csX1" fmla="*/ 144192 w 288384"/>
                  <a:gd name="csY1" fmla="*/ 288384 h 288384"/>
                  <a:gd name="csX2" fmla="*/ 0 w 288384"/>
                  <a:gd name="csY2" fmla="*/ 144192 h 288384"/>
                  <a:gd name="csX3" fmla="*/ 144192 w 288384"/>
                  <a:gd name="csY3" fmla="*/ 0 h 288384"/>
                  <a:gd name="csX4" fmla="*/ 288384 w 288384"/>
                  <a:gd name="csY4" fmla="*/ 144192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8384" h="288384">
                    <a:moveTo>
                      <a:pt x="288384" y="144192"/>
                    </a:moveTo>
                    <a:cubicBezTo>
                      <a:pt x="288384" y="223827"/>
                      <a:pt x="223827" y="288384"/>
                      <a:pt x="144192" y="288384"/>
                    </a:cubicBezTo>
                    <a:cubicBezTo>
                      <a:pt x="64557" y="288384"/>
                      <a:pt x="0" y="223827"/>
                      <a:pt x="0" y="144192"/>
                    </a:cubicBezTo>
                    <a:cubicBezTo>
                      <a:pt x="0" y="64557"/>
                      <a:pt x="64557" y="0"/>
                      <a:pt x="144192" y="0"/>
                    </a:cubicBezTo>
                    <a:cubicBezTo>
                      <a:pt x="223827" y="0"/>
                      <a:pt x="288384" y="64557"/>
                      <a:pt x="288384" y="144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5FBB813-979C-7D7F-7C25-0198B99FFB4B}"/>
                  </a:ext>
                </a:extLst>
              </p:cNvPr>
              <p:cNvSpPr/>
              <p:nvPr/>
            </p:nvSpPr>
            <p:spPr>
              <a:xfrm>
                <a:off x="6659098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7ADF6C1-BF29-4856-3C0B-BCF65880AEE9}"/>
                  </a:ext>
                </a:extLst>
              </p:cNvPr>
              <p:cNvSpPr/>
              <p:nvPr/>
            </p:nvSpPr>
            <p:spPr>
              <a:xfrm>
                <a:off x="7189923" y="2800796"/>
                <a:ext cx="101128" cy="1246562"/>
              </a:xfrm>
              <a:custGeom>
                <a:avLst/>
                <a:gdLst>
                  <a:gd name="csX0" fmla="*/ 0 w 101128"/>
                  <a:gd name="csY0" fmla="*/ 0 h 1246562"/>
                  <a:gd name="csX1" fmla="*/ 101129 w 101128"/>
                  <a:gd name="csY1" fmla="*/ 0 h 1246562"/>
                  <a:gd name="csX2" fmla="*/ 101129 w 101128"/>
                  <a:gd name="csY2" fmla="*/ 1246562 h 1246562"/>
                  <a:gd name="csX3" fmla="*/ 0 w 101128"/>
                  <a:gd name="csY3" fmla="*/ 1246562 h 12465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1128" h="1246562">
                    <a:moveTo>
                      <a:pt x="0" y="0"/>
                    </a:moveTo>
                    <a:lnTo>
                      <a:pt x="101129" y="0"/>
                    </a:lnTo>
                    <a:lnTo>
                      <a:pt x="101129" y="1246562"/>
                    </a:lnTo>
                    <a:lnTo>
                      <a:pt x="0" y="1246562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</p:grpSp>
      </p:grpSp>
      <p:sp>
        <p:nvSpPr>
          <p:cNvPr id="30" name="Text 2">
            <a:extLst>
              <a:ext uri="{FF2B5EF4-FFF2-40B4-BE49-F238E27FC236}">
                <a16:creationId xmlns:a16="http://schemas.microsoft.com/office/drawing/2014/main" id="{4E228A59-86EF-56AE-7D4E-81B7A9749093}"/>
              </a:ext>
            </a:extLst>
          </p:cNvPr>
          <p:cNvSpPr/>
          <p:nvPr/>
        </p:nvSpPr>
        <p:spPr>
          <a:xfrm>
            <a:off x="4344055" y="3727872"/>
            <a:ext cx="2902811" cy="79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Encadré</a:t>
            </a: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 :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Hachim FALL</a:t>
            </a: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106B51D-01D4-C721-E7A7-0574E7730E6D}"/>
              </a:ext>
            </a:extLst>
          </p:cNvPr>
          <p:cNvSpPr/>
          <p:nvPr/>
        </p:nvSpPr>
        <p:spPr>
          <a:xfrm>
            <a:off x="4344055" y="4703232"/>
            <a:ext cx="2902811" cy="79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Année </a:t>
            </a:r>
            <a:r>
              <a:rPr lang="en-US" sz="1600" b="1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universitaire</a:t>
            </a: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 – 2026</a:t>
            </a:r>
          </a:p>
        </p:txBody>
      </p:sp>
      <p:pic>
        <p:nvPicPr>
          <p:cNvPr id="2050" name="Picture 2" descr="Cyber Security (CS) | Master Eng - SupMTI">
            <a:extLst>
              <a:ext uri="{FF2B5EF4-FFF2-40B4-BE49-F238E27FC236}">
                <a16:creationId xmlns:a16="http://schemas.microsoft.com/office/drawing/2014/main" id="{4AD6DCF0-CAE8-95A0-5664-A5110422E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64" y="239177"/>
            <a:ext cx="975360" cy="5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41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30F5799-EE56-E294-5DFA-B1969AA08FDD}"/>
              </a:ext>
            </a:extLst>
          </p:cNvPr>
          <p:cNvSpPr/>
          <p:nvPr/>
        </p:nvSpPr>
        <p:spPr>
          <a:xfrm>
            <a:off x="864738" y="179482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Introduction</a:t>
            </a:r>
            <a:endParaRPr lang="en-US" sz="3550" dirty="0">
              <a:solidFill>
                <a:srgbClr val="5B3FD8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2517120-1D43-3991-7684-86D143054211}"/>
              </a:ext>
            </a:extLst>
          </p:cNvPr>
          <p:cNvSpPr/>
          <p:nvPr/>
        </p:nvSpPr>
        <p:spPr>
          <a:xfrm>
            <a:off x="916542" y="2701962"/>
            <a:ext cx="5606178" cy="239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sécurité dans les stades est cruciale pour protéger les spectateurs, le personnel et les infrastructures.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flux massifs, la diversité des menaces et la nécessité d'une réaction rapide imposent des solutions intelligentes de surveillance pour augmenter la vigilance et réduire les risques.</a:t>
            </a:r>
            <a:endParaRPr lang="en-US" sz="17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6D969A-C17C-06D6-797A-185641DC9FA7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B89643F-C209-019A-E129-A82D17E73F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7" name="Text 0">
              <a:extLst>
                <a:ext uri="{FF2B5EF4-FFF2-40B4-BE49-F238E27FC236}">
                  <a16:creationId xmlns:a16="http://schemas.microsoft.com/office/drawing/2014/main" id="{438D27AA-E71D-17F2-0672-95706A27CABB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2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E66BDD6-1DE9-1ED4-F86D-3DBA7D2B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720" y="839271"/>
            <a:ext cx="5179458" cy="517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1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73743C3-1155-63C7-F65C-4EE2D872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6" y="964053"/>
            <a:ext cx="10826710" cy="612767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B01C7E1-961B-139E-BDB2-AF8677A1985A}"/>
              </a:ext>
            </a:extLst>
          </p:cNvPr>
          <p:cNvSpPr/>
          <p:nvPr/>
        </p:nvSpPr>
        <p:spPr>
          <a:xfrm>
            <a:off x="7356528" y="2152332"/>
            <a:ext cx="2475981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Surveillance humaine</a:t>
            </a:r>
            <a:endParaRPr lang="en-US" sz="1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667871-F571-15DA-F082-6973E0E183FA}"/>
              </a:ext>
            </a:extLst>
          </p:cNvPr>
          <p:cNvSpPr/>
          <p:nvPr/>
        </p:nvSpPr>
        <p:spPr>
          <a:xfrm>
            <a:off x="7356528" y="2549865"/>
            <a:ext cx="3796505" cy="21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Fatigue et attention limitée.</a:t>
            </a:r>
            <a:endParaRPr lang="en-US" sz="15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F2258F5-868A-4CD3-615C-5D6FF279B855}"/>
              </a:ext>
            </a:extLst>
          </p:cNvPr>
          <p:cNvSpPr/>
          <p:nvPr/>
        </p:nvSpPr>
        <p:spPr>
          <a:xfrm>
            <a:off x="2162467" y="3362812"/>
            <a:ext cx="2475982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Réponse lente</a:t>
            </a:r>
            <a:endParaRPr lang="en-US" sz="1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A7CA375-4EDF-095F-2DEB-4C73A63D5A63}"/>
              </a:ext>
            </a:extLst>
          </p:cNvPr>
          <p:cNvSpPr/>
          <p:nvPr/>
        </p:nvSpPr>
        <p:spPr>
          <a:xfrm>
            <a:off x="841944" y="3760345"/>
            <a:ext cx="3796506" cy="21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Retard entre incident et intervention.</a:t>
            </a:r>
            <a:endParaRPr lang="en-US" sz="15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163741A-5EF0-72D0-EC81-270EA3301873}"/>
              </a:ext>
            </a:extLst>
          </p:cNvPr>
          <p:cNvSpPr/>
          <p:nvPr/>
        </p:nvSpPr>
        <p:spPr>
          <a:xfrm>
            <a:off x="7356528" y="4584296"/>
            <a:ext cx="2475981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Détection difficile</a:t>
            </a:r>
            <a:endParaRPr lang="en-US" sz="19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9700B95-F911-294A-10C8-5261BD16E619}"/>
              </a:ext>
            </a:extLst>
          </p:cNvPr>
          <p:cNvSpPr/>
          <p:nvPr/>
        </p:nvSpPr>
        <p:spPr>
          <a:xfrm>
            <a:off x="7356528" y="4981829"/>
            <a:ext cx="3796505" cy="21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 discrets sur plusieurs zones.</a:t>
            </a:r>
            <a:endParaRPr lang="en-US" sz="15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B3E1CE7-6BDF-353F-F56E-D975B9223C5A}"/>
              </a:ext>
            </a:extLst>
          </p:cNvPr>
          <p:cNvSpPr/>
          <p:nvPr/>
        </p:nvSpPr>
        <p:spPr>
          <a:xfrm>
            <a:off x="495323" y="7217811"/>
            <a:ext cx="1100459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systèmes actuels reposent trop sur l'observation humaine, entraînant retards, angles morts et difficultés à repérer des comportements anormaux dans des foules denses.</a:t>
            </a:r>
            <a:endParaRPr lang="en-US" sz="12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DCCE0F-C3EE-4CE6-A097-1FE0F3D20240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6583BAE-A11F-EF2B-9981-7C42BFC184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F9C4635F-61CD-54D5-EAEA-8F6B974B1D2E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3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sp>
        <p:nvSpPr>
          <p:cNvPr id="18" name="Text 0">
            <a:extLst>
              <a:ext uri="{FF2B5EF4-FFF2-40B4-BE49-F238E27FC236}">
                <a16:creationId xmlns:a16="http://schemas.microsoft.com/office/drawing/2014/main" id="{7FC9A175-4C19-5571-99B0-F4832AB00F45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Problèmes</a:t>
            </a: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</a:t>
            </a: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actuels</a:t>
            </a:r>
            <a:endParaRPr lang="en-US" sz="3550" dirty="0">
              <a:solidFill>
                <a:srgbClr val="5B3FD8"/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322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177BDF5-5494-1B6B-5E6F-C78306340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138" y="1197214"/>
            <a:ext cx="4505530" cy="450553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6C2CF18-6A9A-8D4F-2087-FAAC8F16D11A}"/>
              </a:ext>
            </a:extLst>
          </p:cNvPr>
          <p:cNvSpPr/>
          <p:nvPr/>
        </p:nvSpPr>
        <p:spPr>
          <a:xfrm>
            <a:off x="428031" y="1103629"/>
            <a:ext cx="6826210" cy="15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StadiumShield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combine l'IA en périphérie et le cloud pour une surveillance continue : capture vidéo, détection d'anomalies en temps réel, corrélation des sources et notifications automatiques aux équipes de sécurité.</a:t>
            </a:r>
            <a:endParaRPr lang="en-US" sz="17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2021979-5C89-5382-6765-1A38F162BA0D}"/>
              </a:ext>
            </a:extLst>
          </p:cNvPr>
          <p:cNvSpPr/>
          <p:nvPr/>
        </p:nvSpPr>
        <p:spPr>
          <a:xfrm>
            <a:off x="428030" y="2810391"/>
            <a:ext cx="3310603" cy="1768651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8CE45B-1234-EA38-3AA5-53D49C04CBAB}"/>
              </a:ext>
            </a:extLst>
          </p:cNvPr>
          <p:cNvSpPr/>
          <p:nvPr/>
        </p:nvSpPr>
        <p:spPr>
          <a:xfrm>
            <a:off x="662464" y="2983865"/>
            <a:ext cx="2561253" cy="37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Capture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EAACB86-9F1D-0EBC-4525-8E5E535A8450}"/>
              </a:ext>
            </a:extLst>
          </p:cNvPr>
          <p:cNvSpPr/>
          <p:nvPr/>
        </p:nvSpPr>
        <p:spPr>
          <a:xfrm>
            <a:off x="662464" y="3342203"/>
            <a:ext cx="2887044" cy="761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Caméras, drones et capteurs multisources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8FC8151-1038-74CA-749A-1119DDE5CBC2}"/>
              </a:ext>
            </a:extLst>
          </p:cNvPr>
          <p:cNvSpPr/>
          <p:nvPr/>
        </p:nvSpPr>
        <p:spPr>
          <a:xfrm>
            <a:off x="3943530" y="2810391"/>
            <a:ext cx="3310711" cy="1768651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9E3519E-83DE-55CE-4A23-92F0A1228E3E}"/>
              </a:ext>
            </a:extLst>
          </p:cNvPr>
          <p:cNvSpPr/>
          <p:nvPr/>
        </p:nvSpPr>
        <p:spPr>
          <a:xfrm>
            <a:off x="4177964" y="2983865"/>
            <a:ext cx="2561253" cy="37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Analyse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364E64-386D-F658-DD88-AF9645572AC5}"/>
              </a:ext>
            </a:extLst>
          </p:cNvPr>
          <p:cNvSpPr/>
          <p:nvPr/>
        </p:nvSpPr>
        <p:spPr>
          <a:xfrm>
            <a:off x="4177965" y="3342202"/>
            <a:ext cx="2887152" cy="1141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 pour détection d'intrusion, mouvements violents et foules anormales</a:t>
            </a:r>
            <a:endParaRPr lang="en-US" sz="17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DB84033-15A9-AEE9-78DD-6B0ED9E5157D}"/>
              </a:ext>
            </a:extLst>
          </p:cNvPr>
          <p:cNvSpPr/>
          <p:nvPr/>
        </p:nvSpPr>
        <p:spPr>
          <a:xfrm>
            <a:off x="428031" y="4821039"/>
            <a:ext cx="6826210" cy="1141845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3C056BE-B0E8-612C-D0D9-B5C7BD1BFB43}"/>
              </a:ext>
            </a:extLst>
          </p:cNvPr>
          <p:cNvSpPr/>
          <p:nvPr/>
        </p:nvSpPr>
        <p:spPr>
          <a:xfrm>
            <a:off x="662464" y="4994513"/>
            <a:ext cx="2561253" cy="37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Action</a:t>
            </a: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20D7306-CA1D-8606-98D2-C2AA154DFED2}"/>
              </a:ext>
            </a:extLst>
          </p:cNvPr>
          <p:cNvSpPr/>
          <p:nvPr/>
        </p:nvSpPr>
        <p:spPr>
          <a:xfrm>
            <a:off x="662464" y="5352852"/>
            <a:ext cx="6402651" cy="38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Alertes en temps réel vers tableau de bord et équipes mobiles</a:t>
            </a:r>
            <a:endParaRPr lang="en-US" sz="17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EF6E94-24C4-9DCE-D708-49AACE252AE9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A518825-A6C7-B5F9-F404-4485F472AA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B768E763-D09F-AA42-4454-0F0F1E3C0C95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4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23DEA5B8-9690-82BB-F49E-0E9706A4E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96068"/>
            <a:ext cx="628465" cy="628465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F0B72DA9-9193-92E6-B3E3-A72224AB653B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Solution — </a:t>
            </a: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StadiumShield</a:t>
            </a:r>
            <a:endParaRPr lang="en-US" sz="3550" dirty="0">
              <a:solidFill>
                <a:srgbClr val="5B3FD8"/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79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DD30D37-0FC5-8AD0-28C4-1FF156597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7390" y="1701681"/>
            <a:ext cx="566976" cy="56697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0319509-68EA-E4A8-C311-9E416E873203}"/>
              </a:ext>
            </a:extLst>
          </p:cNvPr>
          <p:cNvSpPr/>
          <p:nvPr/>
        </p:nvSpPr>
        <p:spPr>
          <a:xfrm>
            <a:off x="1657390" y="2552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Renforcer la sécurité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D1A6DFA-E098-7DFC-4230-9AD2533F0EC1}"/>
              </a:ext>
            </a:extLst>
          </p:cNvPr>
          <p:cNvSpPr/>
          <p:nvPr/>
        </p:nvSpPr>
        <p:spPr>
          <a:xfrm>
            <a:off x="1657391" y="3042563"/>
            <a:ext cx="44386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Détection précoce des incidents et réduction du temps de réponse</a:t>
            </a:r>
            <a:endParaRPr lang="en-US" sz="17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60B252E-6FA0-0CD5-1787-6D990E59B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5216" y="1701681"/>
            <a:ext cx="566976" cy="56697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51C6F92-F2EE-6EA7-562F-01F41581B6D4}"/>
              </a:ext>
            </a:extLst>
          </p:cNvPr>
          <p:cNvSpPr/>
          <p:nvPr/>
        </p:nvSpPr>
        <p:spPr>
          <a:xfrm>
            <a:off x="6655216" y="2552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Couverture complète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CA4E805-3FA6-325D-43D0-CB064EA6DEAA}"/>
              </a:ext>
            </a:extLst>
          </p:cNvPr>
          <p:cNvSpPr/>
          <p:nvPr/>
        </p:nvSpPr>
        <p:spPr>
          <a:xfrm>
            <a:off x="6655216" y="3042564"/>
            <a:ext cx="4348064" cy="908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Réduire les angles morts grâce à la fusion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multi‑capteurs</a:t>
            </a:r>
            <a:endParaRPr lang="en-US" sz="17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6C02AF9A-C8E5-BB16-6342-CF1E2321F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7390" y="4221996"/>
            <a:ext cx="566976" cy="56697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EC6B77D-39F4-13A4-5FD2-0E337BB756CD}"/>
              </a:ext>
            </a:extLst>
          </p:cNvPr>
          <p:cNvSpPr/>
          <p:nvPr/>
        </p:nvSpPr>
        <p:spPr>
          <a:xfrm>
            <a:off x="1657390" y="5072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Réactivité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8E891EE-AE4F-A0D7-2564-4ACD04CDD0D5}"/>
              </a:ext>
            </a:extLst>
          </p:cNvPr>
          <p:cNvSpPr/>
          <p:nvPr/>
        </p:nvSpPr>
        <p:spPr>
          <a:xfrm>
            <a:off x="1657391" y="5562878"/>
            <a:ext cx="4438609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Notifications instantanées et </a:t>
            </a:r>
            <a:r>
              <a:rPr lang="en-US" sz="1750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priorisation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 interventions</a:t>
            </a:r>
            <a:endParaRPr lang="en-US" sz="17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C1F3D44-3377-C4CB-F673-8A0D87A5B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5216" y="4221996"/>
            <a:ext cx="566976" cy="56697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B048DEAB-7461-9C64-0E27-3929A9BEDE13}"/>
              </a:ext>
            </a:extLst>
          </p:cNvPr>
          <p:cNvSpPr/>
          <p:nvPr/>
        </p:nvSpPr>
        <p:spPr>
          <a:xfrm>
            <a:off x="6655216" y="5072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Analytique</a:t>
            </a:r>
            <a:endParaRPr lang="en-US" sz="2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A0A0AD6-3EBC-8391-8330-A18AD4C52612}"/>
              </a:ext>
            </a:extLst>
          </p:cNvPr>
          <p:cNvSpPr/>
          <p:nvPr/>
        </p:nvSpPr>
        <p:spPr>
          <a:xfrm>
            <a:off x="6655216" y="5562878"/>
            <a:ext cx="49373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Rapports &amp; KPIs pour évaluer la performance et améliorer les procédures</a:t>
            </a:r>
            <a:endParaRPr lang="en-US" sz="17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2EBE04-5C0D-D08E-C1E0-20777CC00162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F017BAE-1154-5187-1422-5BBD1EA22C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73DF449B-BB5A-7C0A-6CF7-761889C46ADB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5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sp>
        <p:nvSpPr>
          <p:cNvPr id="18" name="Text 0">
            <a:extLst>
              <a:ext uri="{FF2B5EF4-FFF2-40B4-BE49-F238E27FC236}">
                <a16:creationId xmlns:a16="http://schemas.microsoft.com/office/drawing/2014/main" id="{D4A67EA8-A8FB-9955-978B-83486CFDA3E2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Objectifs</a:t>
            </a: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du </a:t>
            </a: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projet</a:t>
            </a:r>
            <a:endParaRPr lang="en-US" sz="3550" dirty="0">
              <a:solidFill>
                <a:srgbClr val="5B3FD8"/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372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ACB5F54-2059-24A6-3135-09C7D0AE40F4}"/>
              </a:ext>
            </a:extLst>
          </p:cNvPr>
          <p:cNvSpPr/>
          <p:nvPr/>
        </p:nvSpPr>
        <p:spPr>
          <a:xfrm>
            <a:off x="6790968" y="514827"/>
            <a:ext cx="3756779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</a:rPr>
              <a:t>Services du système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F2A4BB0-1E12-A891-D019-11E39A5E6DBD}"/>
              </a:ext>
            </a:extLst>
          </p:cNvPr>
          <p:cNvSpPr/>
          <p:nvPr/>
        </p:nvSpPr>
        <p:spPr>
          <a:xfrm>
            <a:off x="6790968" y="1271548"/>
            <a:ext cx="5025112" cy="1126132"/>
          </a:xfrm>
          <a:prstGeom prst="roundRect">
            <a:avLst>
              <a:gd name="adj" fmla="val 119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CB312C-303D-EAE5-F171-F7034F44B194}"/>
              </a:ext>
            </a:extLst>
          </p:cNvPr>
          <p:cNvSpPr/>
          <p:nvPr/>
        </p:nvSpPr>
        <p:spPr>
          <a:xfrm>
            <a:off x="7001589" y="1322348"/>
            <a:ext cx="246102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Tableau de bord central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A4AE5D-261E-01C2-1FBF-E1337D54ADF1}"/>
              </a:ext>
            </a:extLst>
          </p:cNvPr>
          <p:cNvSpPr/>
          <p:nvPr/>
        </p:nvSpPr>
        <p:spPr>
          <a:xfrm>
            <a:off x="7001589" y="1771332"/>
            <a:ext cx="451985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Vue unifiée: flux vidéo, carte thermique et statut des équipes</a:t>
            </a:r>
            <a:endParaRPr lang="en-US" sz="14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8ADC896-A849-5A63-4BF0-C51DE52B2FBA}"/>
              </a:ext>
            </a:extLst>
          </p:cNvPr>
          <p:cNvSpPr/>
          <p:nvPr/>
        </p:nvSpPr>
        <p:spPr>
          <a:xfrm>
            <a:off x="6790968" y="2582466"/>
            <a:ext cx="5025112" cy="1126132"/>
          </a:xfrm>
          <a:prstGeom prst="roundRect">
            <a:avLst>
              <a:gd name="adj" fmla="val 119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97661BD-3D0F-81BB-AD2D-4464E4F59F88}"/>
              </a:ext>
            </a:extLst>
          </p:cNvPr>
          <p:cNvSpPr/>
          <p:nvPr/>
        </p:nvSpPr>
        <p:spPr>
          <a:xfrm>
            <a:off x="7001589" y="263326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Alertes intelligentes</a:t>
            </a: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73C73A2-A088-AACA-7C2E-17C825B194AF}"/>
              </a:ext>
            </a:extLst>
          </p:cNvPr>
          <p:cNvSpPr/>
          <p:nvPr/>
        </p:nvSpPr>
        <p:spPr>
          <a:xfrm>
            <a:off x="7001589" y="3082250"/>
            <a:ext cx="381726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Priorisation automatique selon criticité et zone</a:t>
            </a:r>
            <a:endParaRPr lang="en-US" sz="14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62F8522-5ACA-8FFF-23F6-C7642283CD33}"/>
              </a:ext>
            </a:extLst>
          </p:cNvPr>
          <p:cNvSpPr/>
          <p:nvPr/>
        </p:nvSpPr>
        <p:spPr>
          <a:xfrm>
            <a:off x="6790968" y="3852744"/>
            <a:ext cx="5025112" cy="1126132"/>
          </a:xfrm>
          <a:prstGeom prst="roundRect">
            <a:avLst>
              <a:gd name="adj" fmla="val 119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B50B7B0-1D50-6069-DC51-9B603711F91D}"/>
              </a:ext>
            </a:extLst>
          </p:cNvPr>
          <p:cNvSpPr/>
          <p:nvPr/>
        </p:nvSpPr>
        <p:spPr>
          <a:xfrm>
            <a:off x="7001589" y="390354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Détection IA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E555C7A-012A-45FF-9B6C-EC812B0A9EC2}"/>
              </a:ext>
            </a:extLst>
          </p:cNvPr>
          <p:cNvSpPr/>
          <p:nvPr/>
        </p:nvSpPr>
        <p:spPr>
          <a:xfrm>
            <a:off x="7001589" y="4352528"/>
            <a:ext cx="381726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Violence, intrusion, attroupement, objets abandonnés</a:t>
            </a:r>
            <a:endParaRPr lang="en-US" sz="14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E7B3780-4CF1-E383-C975-3775F47201BC}"/>
              </a:ext>
            </a:extLst>
          </p:cNvPr>
          <p:cNvSpPr/>
          <p:nvPr/>
        </p:nvSpPr>
        <p:spPr>
          <a:xfrm>
            <a:off x="6790968" y="5153502"/>
            <a:ext cx="5025112" cy="1126132"/>
          </a:xfrm>
          <a:prstGeom prst="roundRect">
            <a:avLst>
              <a:gd name="adj" fmla="val 119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33338A-9637-3BAB-E14E-FB4ADBF9A63A}"/>
              </a:ext>
            </a:extLst>
          </p:cNvPr>
          <p:cNvSpPr/>
          <p:nvPr/>
        </p:nvSpPr>
        <p:spPr>
          <a:xfrm>
            <a:off x="7001589" y="520430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Surveillance continue</a:t>
            </a:r>
            <a:endParaRPr lang="en-US" sz="1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3F36552-B691-E7FA-E524-0A59812BE06A}"/>
              </a:ext>
            </a:extLst>
          </p:cNvPr>
          <p:cNvSpPr/>
          <p:nvPr/>
        </p:nvSpPr>
        <p:spPr>
          <a:xfrm>
            <a:off x="7001589" y="5653286"/>
            <a:ext cx="381726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Logs, enregistrements et recherche multicritères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F12DA3-9C39-F2B9-B340-39623904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" t="377" r="466" b="652"/>
          <a:stretch>
            <a:fillRect/>
          </a:stretch>
        </p:blipFill>
        <p:spPr>
          <a:xfrm>
            <a:off x="1282563" y="790575"/>
            <a:ext cx="5269230" cy="52768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E38A36B-12BB-D6AC-182C-AC541B06306E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9884B53-73F2-07FC-5583-2EC1682047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20" name="Text 0">
              <a:extLst>
                <a:ext uri="{FF2B5EF4-FFF2-40B4-BE49-F238E27FC236}">
                  <a16:creationId xmlns:a16="http://schemas.microsoft.com/office/drawing/2014/main" id="{6DE54F7D-AB01-B511-B9EC-6A4FD9CAD717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6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36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4813B9C-2593-C34F-E3CF-7032086D1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942" y="2422366"/>
            <a:ext cx="451842" cy="45184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C44B1C0-BBA3-F4F1-C6D3-2EB196EA72F1}"/>
              </a:ext>
            </a:extLst>
          </p:cNvPr>
          <p:cNvSpPr/>
          <p:nvPr/>
        </p:nvSpPr>
        <p:spPr>
          <a:xfrm>
            <a:off x="1703806" y="2422366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React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B87F43-BB34-D92B-422B-0A21DC36CA9E}"/>
              </a:ext>
            </a:extLst>
          </p:cNvPr>
          <p:cNvSpPr/>
          <p:nvPr/>
        </p:nvSpPr>
        <p:spPr>
          <a:xfrm>
            <a:off x="1703806" y="2747129"/>
            <a:ext cx="4171038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interactive et tableau de bord temps réel</a:t>
            </a:r>
            <a:endParaRPr lang="en-US" sz="14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3929EAE8-318B-7457-F6B2-495D7542B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42" y="3138170"/>
            <a:ext cx="451842" cy="45184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B57A35A7-4139-33AC-957A-0F62910713DB}"/>
              </a:ext>
            </a:extLst>
          </p:cNvPr>
          <p:cNvSpPr/>
          <p:nvPr/>
        </p:nvSpPr>
        <p:spPr>
          <a:xfrm>
            <a:off x="1703806" y="313817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Node.js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E819D81-E652-272D-CBA6-1225E2C7F825}"/>
              </a:ext>
            </a:extLst>
          </p:cNvPr>
          <p:cNvSpPr/>
          <p:nvPr/>
        </p:nvSpPr>
        <p:spPr>
          <a:xfrm>
            <a:off x="1703806" y="3462933"/>
            <a:ext cx="344662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et orchestration temps réel</a:t>
            </a:r>
            <a:endParaRPr lang="en-US" sz="14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42A975-696E-B9DE-D46E-8F641B868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942" y="3909140"/>
            <a:ext cx="451842" cy="45184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F3EBFAA-D118-8749-0FFA-8B4374A127F7}"/>
              </a:ext>
            </a:extLst>
          </p:cNvPr>
          <p:cNvSpPr/>
          <p:nvPr/>
        </p:nvSpPr>
        <p:spPr>
          <a:xfrm>
            <a:off x="1703806" y="390914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MongoDB</a:t>
            </a:r>
            <a:endParaRPr lang="en-US" sz="17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D41057D-51BB-54A9-6360-863E264C332F}"/>
              </a:ext>
            </a:extLst>
          </p:cNvPr>
          <p:cNvSpPr/>
          <p:nvPr/>
        </p:nvSpPr>
        <p:spPr>
          <a:xfrm>
            <a:off x="1703806" y="4233902"/>
            <a:ext cx="4171038" cy="361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Stockage flexible des événements et métadonnées</a:t>
            </a:r>
            <a:endParaRPr lang="en-US" sz="14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4DDC1F37-C7CB-3868-5B88-23ED1B7CA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5376" y="2422367"/>
            <a:ext cx="451842" cy="45184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D75A00B-847E-EB91-457B-A2F568326A73}"/>
              </a:ext>
            </a:extLst>
          </p:cNvPr>
          <p:cNvSpPr/>
          <p:nvPr/>
        </p:nvSpPr>
        <p:spPr>
          <a:xfrm>
            <a:off x="7427240" y="242236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 Detection</a:t>
            </a:r>
            <a:endParaRPr lang="en-US" sz="17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962C154-121F-00DD-698C-07E143A1EA7F}"/>
              </a:ext>
            </a:extLst>
          </p:cNvPr>
          <p:cNvSpPr/>
          <p:nvPr/>
        </p:nvSpPr>
        <p:spPr>
          <a:xfrm>
            <a:off x="7427240" y="2747130"/>
            <a:ext cx="344662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Modèles CV pour classification et tracking</a:t>
            </a:r>
            <a:endParaRPr lang="en-US" sz="14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6CA1E219-00A0-9CBD-E1FB-D87E32B5F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5376" y="3173017"/>
            <a:ext cx="451842" cy="451842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CDDF30F0-F233-922F-2D5C-C80B8B48131A}"/>
              </a:ext>
            </a:extLst>
          </p:cNvPr>
          <p:cNvSpPr/>
          <p:nvPr/>
        </p:nvSpPr>
        <p:spPr>
          <a:xfrm>
            <a:off x="7427240" y="317301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Figma</a:t>
            </a:r>
            <a:endParaRPr lang="en-US" sz="17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635AE04-8EC7-B389-635C-734DE921A99F}"/>
              </a:ext>
            </a:extLst>
          </p:cNvPr>
          <p:cNvSpPr/>
          <p:nvPr/>
        </p:nvSpPr>
        <p:spPr>
          <a:xfrm>
            <a:off x="7427240" y="3497779"/>
            <a:ext cx="344662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Prototypes UI et ateliers UX</a:t>
            </a:r>
            <a:endParaRPr lang="en-US" sz="1400" dirty="0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4362E786-FF26-8BB1-F211-D7E91B5EA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5376" y="3965378"/>
            <a:ext cx="451842" cy="451842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81E6B221-1603-2594-7B8A-CCE5B54474D0}"/>
              </a:ext>
            </a:extLst>
          </p:cNvPr>
          <p:cNvSpPr/>
          <p:nvPr/>
        </p:nvSpPr>
        <p:spPr>
          <a:xfrm>
            <a:off x="7427240" y="39653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MS Project</a:t>
            </a:r>
            <a:endParaRPr lang="en-US" sz="17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C85773C-9882-98D9-1E14-6EE1314319F3}"/>
              </a:ext>
            </a:extLst>
          </p:cNvPr>
          <p:cNvSpPr/>
          <p:nvPr/>
        </p:nvSpPr>
        <p:spPr>
          <a:xfrm>
            <a:off x="7427240" y="4290141"/>
            <a:ext cx="344662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Planification et suivi des jalons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886223-08AF-9CE9-1B21-487BB25AF5ED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1A8382D8-B847-1A90-5DC8-4FB7370207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25" name="Text 0">
              <a:extLst>
                <a:ext uri="{FF2B5EF4-FFF2-40B4-BE49-F238E27FC236}">
                  <a16:creationId xmlns:a16="http://schemas.microsoft.com/office/drawing/2014/main" id="{D07044B7-36E5-B18E-C535-EEB8D4C0CA80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7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sp>
        <p:nvSpPr>
          <p:cNvPr id="21" name="Text 0">
            <a:extLst>
              <a:ext uri="{FF2B5EF4-FFF2-40B4-BE49-F238E27FC236}">
                <a16:creationId xmlns:a16="http://schemas.microsoft.com/office/drawing/2014/main" id="{691D05F7-5B50-ED6C-A8B4-2015AC4993C0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Technologies </a:t>
            </a: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clés</a:t>
            </a:r>
            <a:endParaRPr lang="en-US" sz="3550" dirty="0">
              <a:solidFill>
                <a:srgbClr val="5B3FD8"/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49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E63134D0-431E-5652-10B7-7C675DFF1928}"/>
              </a:ext>
            </a:extLst>
          </p:cNvPr>
          <p:cNvSpPr/>
          <p:nvPr/>
        </p:nvSpPr>
        <p:spPr>
          <a:xfrm>
            <a:off x="617601" y="2540238"/>
            <a:ext cx="4607541" cy="1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fr-FR" noProof="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distribuée garantissant latence minimale, scalabilité et tolérance aux pannes.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fr-FR" noProof="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fr-FR" noProof="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Redondance des flux critiques et séparation des plans de données et de contrôle.</a:t>
            </a:r>
            <a:endParaRPr lang="fr-FR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26D9EF-96F8-8797-90B3-6AB2DC4837FA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7460390-9168-C6CC-4340-423D75E0C2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11" name="Text 0">
              <a:extLst>
                <a:ext uri="{FF2B5EF4-FFF2-40B4-BE49-F238E27FC236}">
                  <a16:creationId xmlns:a16="http://schemas.microsoft.com/office/drawing/2014/main" id="{26A2FD62-FAD6-4268-E074-1679FE71533E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fr-FR" sz="1400" b="1" noProof="0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8</a:t>
              </a:r>
              <a:endParaRPr lang="fr-FR" sz="1400" b="1" noProof="0" dirty="0">
                <a:solidFill>
                  <a:srgbClr val="5B3FD8"/>
                </a:solidFill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7FFB01E-FC0D-161F-A1F7-FF07816B7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CE6B283-2A7F-E6E2-6BCC-F44BCAEEEDEE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Architecture </a:t>
            </a:r>
            <a:r>
              <a:rPr lang="en-US" sz="3550" dirty="0" err="1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système</a:t>
            </a:r>
            <a:endParaRPr lang="en-US" sz="3550" dirty="0">
              <a:solidFill>
                <a:srgbClr val="5B3FD8"/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96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A282BF5-F7F3-5372-8E21-DF587732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06" b="23574"/>
          <a:stretch>
            <a:fillRect/>
          </a:stretch>
        </p:blipFill>
        <p:spPr>
          <a:xfrm>
            <a:off x="1786007" y="1318736"/>
            <a:ext cx="8619986" cy="446689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7952805-E6D4-B393-6836-6C2A5F89E461}"/>
              </a:ext>
            </a:extLst>
          </p:cNvPr>
          <p:cNvGrpSpPr/>
          <p:nvPr/>
        </p:nvGrpSpPr>
        <p:grpSpPr>
          <a:xfrm>
            <a:off x="232437" y="6046470"/>
            <a:ext cx="839505" cy="569314"/>
            <a:chOff x="232437" y="6046470"/>
            <a:chExt cx="839505" cy="569314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377AA5D-B89F-01E0-EBE1-24BACBECD9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437" y="6230619"/>
              <a:ext cx="385165" cy="385165"/>
            </a:xfrm>
            <a:prstGeom prst="rect">
              <a:avLst/>
            </a:prstGeom>
          </p:spPr>
        </p:pic>
        <p:sp>
          <p:nvSpPr>
            <p:cNvPr id="19" name="Text 0">
              <a:extLst>
                <a:ext uri="{FF2B5EF4-FFF2-40B4-BE49-F238E27FC236}">
                  <a16:creationId xmlns:a16="http://schemas.microsoft.com/office/drawing/2014/main" id="{186C4CC6-DE42-B7D6-9703-C978C40FF5E5}"/>
                </a:ext>
              </a:extLst>
            </p:cNvPr>
            <p:cNvSpPr/>
            <p:nvPr/>
          </p:nvSpPr>
          <p:spPr>
            <a:xfrm>
              <a:off x="657533" y="6046470"/>
              <a:ext cx="414409" cy="4924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400" b="1" dirty="0">
                  <a:solidFill>
                    <a:srgbClr val="5B3FD8"/>
                  </a:solidFill>
                  <a:latin typeface="Outfit Medium" pitchFamily="34" charset="0"/>
                  <a:ea typeface="Outfit Medium" pitchFamily="34" charset="-122"/>
                  <a:cs typeface="Outfit Medium" pitchFamily="34" charset="-120"/>
                </a:rPr>
                <a:t>9</a:t>
              </a:r>
              <a:endParaRPr lang="en-US" sz="1400" b="1" dirty="0">
                <a:solidFill>
                  <a:srgbClr val="5B3FD8"/>
                </a:solidFill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4BC7BD77-AA82-4247-88E9-069501FECAFD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Planification</a:t>
            </a:r>
          </a:p>
        </p:txBody>
      </p:sp>
    </p:spTree>
    <p:extLst>
      <p:ext uri="{BB962C8B-B14F-4D97-AF65-F5344CB8AC3E}">
        <p14:creationId xmlns:p14="http://schemas.microsoft.com/office/powerpoint/2010/main" val="97953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2EDB85F-E531-883F-E42A-463AF6165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7" r="20826"/>
          <a:stretch>
            <a:fillRect/>
          </a:stretch>
        </p:blipFill>
        <p:spPr>
          <a:xfrm>
            <a:off x="7794170" y="0"/>
            <a:ext cx="4397830" cy="68580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0831110-4EBA-DFD9-63EA-C747BB15F232}"/>
              </a:ext>
            </a:extLst>
          </p:cNvPr>
          <p:cNvSpPr/>
          <p:nvPr/>
        </p:nvSpPr>
        <p:spPr>
          <a:xfrm>
            <a:off x="1200252" y="1406252"/>
            <a:ext cx="6169592" cy="265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StadiumShield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 propose une solution intégrée, scalable et réactive pour améliorer significativement la sûreté des événements. En combinant IA, edge computing et interfaces opérationnelles, nous visons à réduire les incidents, accélérer les interventions et fournir des analyses exploitables.</a:t>
            </a:r>
            <a:endParaRPr lang="en-US" sz="17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7DB6A4C-7D0E-E86C-4194-76A9F58A39EE}"/>
              </a:ext>
            </a:extLst>
          </p:cNvPr>
          <p:cNvSpPr/>
          <p:nvPr/>
        </p:nvSpPr>
        <p:spPr>
          <a:xfrm>
            <a:off x="1200252" y="3759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Poppins" panose="00000500000000000000" pitchFamily="2" charset="0"/>
              </a:rPr>
              <a:t>Résultats attendus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F91F095-75FD-EB21-9DD1-D249D6E3BD9B}"/>
              </a:ext>
            </a:extLst>
          </p:cNvPr>
          <p:cNvSpPr/>
          <p:nvPr/>
        </p:nvSpPr>
        <p:spPr>
          <a:xfrm>
            <a:off x="1200252" y="4172759"/>
            <a:ext cx="56382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Réduction du temps de détection et d'intervention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Diminution des angles morts et des faux positifs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Amélioration continue via l'analytique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2B4F729-47D3-C3B5-2E58-8F89910A060A}"/>
              </a:ext>
            </a:extLst>
          </p:cNvPr>
          <p:cNvSpPr/>
          <p:nvPr/>
        </p:nvSpPr>
        <p:spPr>
          <a:xfrm>
            <a:off x="1200253" y="5451748"/>
            <a:ext cx="46780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Poppins" panose="00000500000000000000" pitchFamily="2" charset="0"/>
              </a:rPr>
              <a:t>Merci pour votre attention.</a:t>
            </a:r>
            <a:endParaRPr lang="en-US" sz="1750" dirty="0"/>
          </a:p>
        </p:txBody>
      </p:sp>
      <p:grpSp>
        <p:nvGrpSpPr>
          <p:cNvPr id="18" name="Graphic 10">
            <a:extLst>
              <a:ext uri="{FF2B5EF4-FFF2-40B4-BE49-F238E27FC236}">
                <a16:creationId xmlns:a16="http://schemas.microsoft.com/office/drawing/2014/main" id="{10F09338-F670-05EB-CEE7-5FE52B660DCA}"/>
              </a:ext>
            </a:extLst>
          </p:cNvPr>
          <p:cNvGrpSpPr/>
          <p:nvPr/>
        </p:nvGrpSpPr>
        <p:grpSpPr>
          <a:xfrm>
            <a:off x="8488368" y="1655757"/>
            <a:ext cx="3009433" cy="3546486"/>
            <a:chOff x="6648717" y="2731747"/>
            <a:chExt cx="1183272" cy="139443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E379E59-9329-188D-8280-BCF244985122}"/>
                </a:ext>
              </a:extLst>
            </p:cNvPr>
            <p:cNvSpPr/>
            <p:nvPr/>
          </p:nvSpPr>
          <p:spPr>
            <a:xfrm>
              <a:off x="6648717" y="2731747"/>
              <a:ext cx="1183272" cy="1394437"/>
            </a:xfrm>
            <a:custGeom>
              <a:avLst/>
              <a:gdLst>
                <a:gd name="csX0" fmla="*/ 1151461 w 1183272"/>
                <a:gd name="csY0" fmla="*/ 249339 h 1394437"/>
                <a:gd name="csX1" fmla="*/ 871716 w 1183272"/>
                <a:gd name="csY1" fmla="*/ 150019 h 1394437"/>
                <a:gd name="csX2" fmla="*/ 614809 w 1183272"/>
                <a:gd name="csY2" fmla="*/ 14399 h 1394437"/>
                <a:gd name="csX3" fmla="*/ 591570 w 1183272"/>
                <a:gd name="csY3" fmla="*/ 0 h 1394437"/>
                <a:gd name="csX4" fmla="*/ 568732 w 1183272"/>
                <a:gd name="csY4" fmla="*/ 14801 h 1394437"/>
                <a:gd name="csX5" fmla="*/ 311825 w 1183272"/>
                <a:gd name="csY5" fmla="*/ 150421 h 1394437"/>
                <a:gd name="csX6" fmla="*/ 31678 w 1183272"/>
                <a:gd name="csY6" fmla="*/ 249272 h 1394437"/>
                <a:gd name="csX7" fmla="*/ 0 w 1183272"/>
                <a:gd name="csY7" fmla="*/ 257309 h 1394437"/>
                <a:gd name="csX8" fmla="*/ 0 w 1183272"/>
                <a:gd name="csY8" fmla="*/ 609719 h 1394437"/>
                <a:gd name="csX9" fmla="*/ 577237 w 1183272"/>
                <a:gd name="csY9" fmla="*/ 1389348 h 1394437"/>
                <a:gd name="csX10" fmla="*/ 591637 w 1183272"/>
                <a:gd name="csY10" fmla="*/ 1394437 h 1394437"/>
                <a:gd name="csX11" fmla="*/ 606036 w 1183272"/>
                <a:gd name="csY11" fmla="*/ 1389348 h 1394437"/>
                <a:gd name="csX12" fmla="*/ 1183273 w 1183272"/>
                <a:gd name="csY12" fmla="*/ 609719 h 1394437"/>
                <a:gd name="csX13" fmla="*/ 1183273 w 1183272"/>
                <a:gd name="csY13" fmla="*/ 257309 h 1394437"/>
                <a:gd name="csX14" fmla="*/ 1151595 w 1183272"/>
                <a:gd name="csY14" fmla="*/ 249272 h 1394437"/>
                <a:gd name="csX15" fmla="*/ 1151461 w 1183272"/>
                <a:gd name="csY15" fmla="*/ 249272 h 1394437"/>
                <a:gd name="csX16" fmla="*/ 1098687 w 1183272"/>
                <a:gd name="csY16" fmla="*/ 609786 h 1394437"/>
                <a:gd name="csX17" fmla="*/ 591637 w 1183272"/>
                <a:gd name="csY17" fmla="*/ 1304024 h 1394437"/>
                <a:gd name="csX18" fmla="*/ 84586 w 1183272"/>
                <a:gd name="csY18" fmla="*/ 609786 h 1394437"/>
                <a:gd name="csX19" fmla="*/ 84586 w 1183272"/>
                <a:gd name="csY19" fmla="*/ 322875 h 1394437"/>
                <a:gd name="csX20" fmla="*/ 345713 w 1183272"/>
                <a:gd name="csY20" fmla="*/ 227774 h 1394437"/>
                <a:gd name="csX21" fmla="*/ 591637 w 1183272"/>
                <a:gd name="csY21" fmla="*/ 100995 h 1394437"/>
                <a:gd name="csX22" fmla="*/ 837560 w 1183272"/>
                <a:gd name="csY22" fmla="*/ 227774 h 1394437"/>
                <a:gd name="csX23" fmla="*/ 1098687 w 1183272"/>
                <a:gd name="csY23" fmla="*/ 322875 h 1394437"/>
                <a:gd name="csX24" fmla="*/ 1098687 w 1183272"/>
                <a:gd name="csY24" fmla="*/ 609786 h 1394437"/>
                <a:gd name="csX25" fmla="*/ 1098687 w 1183272"/>
                <a:gd name="csY25" fmla="*/ 609786 h 1394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83272" h="1394437">
                  <a:moveTo>
                    <a:pt x="1151461" y="249339"/>
                  </a:moveTo>
                  <a:cubicBezTo>
                    <a:pt x="1055690" y="223755"/>
                    <a:pt x="962196" y="190604"/>
                    <a:pt x="871716" y="150019"/>
                  </a:cubicBezTo>
                  <a:cubicBezTo>
                    <a:pt x="782776" y="111442"/>
                    <a:pt x="696851" y="66102"/>
                    <a:pt x="614809" y="14399"/>
                  </a:cubicBezTo>
                  <a:lnTo>
                    <a:pt x="591570" y="0"/>
                  </a:lnTo>
                  <a:lnTo>
                    <a:pt x="568732" y="14801"/>
                  </a:lnTo>
                  <a:cubicBezTo>
                    <a:pt x="486690" y="66504"/>
                    <a:pt x="400764" y="111844"/>
                    <a:pt x="311825" y="150421"/>
                  </a:cubicBezTo>
                  <a:cubicBezTo>
                    <a:pt x="221211" y="190805"/>
                    <a:pt x="127583" y="223890"/>
                    <a:pt x="31678" y="249272"/>
                  </a:cubicBezTo>
                  <a:lnTo>
                    <a:pt x="0" y="257309"/>
                  </a:lnTo>
                  <a:lnTo>
                    <a:pt x="0" y="609719"/>
                  </a:lnTo>
                  <a:cubicBezTo>
                    <a:pt x="0" y="1175504"/>
                    <a:pt x="571746" y="1387205"/>
                    <a:pt x="577237" y="1389348"/>
                  </a:cubicBezTo>
                  <a:lnTo>
                    <a:pt x="591637" y="1394437"/>
                  </a:lnTo>
                  <a:lnTo>
                    <a:pt x="606036" y="1389348"/>
                  </a:lnTo>
                  <a:cubicBezTo>
                    <a:pt x="611929" y="1389348"/>
                    <a:pt x="1183273" y="1175973"/>
                    <a:pt x="1183273" y="609719"/>
                  </a:cubicBezTo>
                  <a:lnTo>
                    <a:pt x="1183273" y="257309"/>
                  </a:lnTo>
                  <a:lnTo>
                    <a:pt x="1151595" y="249272"/>
                  </a:lnTo>
                  <a:lnTo>
                    <a:pt x="1151461" y="249272"/>
                  </a:lnTo>
                  <a:close/>
                  <a:moveTo>
                    <a:pt x="1098687" y="609786"/>
                  </a:moveTo>
                  <a:cubicBezTo>
                    <a:pt x="1098687" y="1074576"/>
                    <a:pt x="676156" y="1269400"/>
                    <a:pt x="591637" y="1304024"/>
                  </a:cubicBezTo>
                  <a:cubicBezTo>
                    <a:pt x="507117" y="1269400"/>
                    <a:pt x="84586" y="1074175"/>
                    <a:pt x="84586" y="609786"/>
                  </a:cubicBezTo>
                  <a:lnTo>
                    <a:pt x="84586" y="322875"/>
                  </a:lnTo>
                  <a:cubicBezTo>
                    <a:pt x="173727" y="297224"/>
                    <a:pt x="260992" y="265480"/>
                    <a:pt x="345713" y="227774"/>
                  </a:cubicBezTo>
                  <a:cubicBezTo>
                    <a:pt x="430433" y="191140"/>
                    <a:pt x="512609" y="148813"/>
                    <a:pt x="591637" y="100995"/>
                  </a:cubicBezTo>
                  <a:cubicBezTo>
                    <a:pt x="670664" y="148746"/>
                    <a:pt x="752840" y="191140"/>
                    <a:pt x="837560" y="227774"/>
                  </a:cubicBezTo>
                  <a:cubicBezTo>
                    <a:pt x="922281" y="265480"/>
                    <a:pt x="1009546" y="297224"/>
                    <a:pt x="1098687" y="322875"/>
                  </a:cubicBezTo>
                  <a:lnTo>
                    <a:pt x="1098687" y="609786"/>
                  </a:lnTo>
                  <a:lnTo>
                    <a:pt x="1098687" y="609786"/>
                  </a:lnTo>
                  <a:close/>
                </a:path>
              </a:pathLst>
            </a:custGeom>
            <a:solidFill>
              <a:srgbClr val="FFFFFF"/>
            </a:solidFill>
            <a:ln w="6697" cap="flat">
              <a:noFill/>
              <a:prstDash val="solid"/>
              <a:miter/>
            </a:ln>
          </p:spPr>
        </p:sp>
        <p:grpSp>
          <p:nvGrpSpPr>
            <p:cNvPr id="20" name="Graphic 10">
              <a:extLst>
                <a:ext uri="{FF2B5EF4-FFF2-40B4-BE49-F238E27FC236}">
                  <a16:creationId xmlns:a16="http://schemas.microsoft.com/office/drawing/2014/main" id="{ECD38266-0527-D7C3-BDAE-93313D239E9B}"/>
                </a:ext>
              </a:extLst>
            </p:cNvPr>
            <p:cNvGrpSpPr/>
            <p:nvPr/>
          </p:nvGrpSpPr>
          <p:grpSpPr>
            <a:xfrm>
              <a:off x="6659098" y="2800796"/>
              <a:ext cx="1162578" cy="1246562"/>
              <a:chOff x="6659098" y="2800796"/>
              <a:chExt cx="1162578" cy="1246562"/>
            </a:xfrm>
            <a:solidFill>
              <a:srgbClr val="FFFFFF"/>
            </a:solidFill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AB82F96-EC4D-0352-AF3B-AD7CDF570FE7}"/>
                  </a:ext>
                </a:extLst>
              </p:cNvPr>
              <p:cNvSpPr/>
              <p:nvPr/>
            </p:nvSpPr>
            <p:spPr>
              <a:xfrm>
                <a:off x="7650160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A840BBD-6A24-706D-2434-6FF07EE85F98}"/>
                  </a:ext>
                </a:extLst>
              </p:cNvPr>
              <p:cNvSpPr/>
              <p:nvPr/>
            </p:nvSpPr>
            <p:spPr>
              <a:xfrm rot="-190200">
                <a:off x="7096062" y="3170554"/>
                <a:ext cx="288384" cy="288384"/>
              </a:xfrm>
              <a:custGeom>
                <a:avLst/>
                <a:gdLst>
                  <a:gd name="csX0" fmla="*/ 288384 w 288384"/>
                  <a:gd name="csY0" fmla="*/ 144192 h 288384"/>
                  <a:gd name="csX1" fmla="*/ 144192 w 288384"/>
                  <a:gd name="csY1" fmla="*/ 288384 h 288384"/>
                  <a:gd name="csX2" fmla="*/ 0 w 288384"/>
                  <a:gd name="csY2" fmla="*/ 144192 h 288384"/>
                  <a:gd name="csX3" fmla="*/ 144192 w 288384"/>
                  <a:gd name="csY3" fmla="*/ 0 h 288384"/>
                  <a:gd name="csX4" fmla="*/ 288384 w 288384"/>
                  <a:gd name="csY4" fmla="*/ 144192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8384" h="288384">
                    <a:moveTo>
                      <a:pt x="288384" y="144192"/>
                    </a:moveTo>
                    <a:cubicBezTo>
                      <a:pt x="288384" y="223827"/>
                      <a:pt x="223827" y="288384"/>
                      <a:pt x="144192" y="288384"/>
                    </a:cubicBezTo>
                    <a:cubicBezTo>
                      <a:pt x="64557" y="288384"/>
                      <a:pt x="0" y="223827"/>
                      <a:pt x="0" y="144192"/>
                    </a:cubicBezTo>
                    <a:cubicBezTo>
                      <a:pt x="0" y="64557"/>
                      <a:pt x="64557" y="0"/>
                      <a:pt x="144192" y="0"/>
                    </a:cubicBezTo>
                    <a:cubicBezTo>
                      <a:pt x="223827" y="0"/>
                      <a:pt x="288384" y="64557"/>
                      <a:pt x="288384" y="144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CAC1DAE-00DD-B404-8CA3-8DB48064A21A}"/>
                  </a:ext>
                </a:extLst>
              </p:cNvPr>
              <p:cNvSpPr/>
              <p:nvPr/>
            </p:nvSpPr>
            <p:spPr>
              <a:xfrm>
                <a:off x="6659098" y="3170619"/>
                <a:ext cx="171516" cy="288384"/>
              </a:xfrm>
              <a:custGeom>
                <a:avLst/>
                <a:gdLst>
                  <a:gd name="csX0" fmla="*/ 0 w 171516"/>
                  <a:gd name="csY0" fmla="*/ 0 h 288384"/>
                  <a:gd name="csX1" fmla="*/ 171517 w 171516"/>
                  <a:gd name="csY1" fmla="*/ 0 h 288384"/>
                  <a:gd name="csX2" fmla="*/ 171517 w 171516"/>
                  <a:gd name="csY2" fmla="*/ 288385 h 288384"/>
                  <a:gd name="csX3" fmla="*/ 0 w 171516"/>
                  <a:gd name="csY3" fmla="*/ 288385 h 288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516" h="288384">
                    <a:moveTo>
                      <a:pt x="0" y="0"/>
                    </a:moveTo>
                    <a:lnTo>
                      <a:pt x="171517" y="0"/>
                    </a:lnTo>
                    <a:lnTo>
                      <a:pt x="171517" y="288385"/>
                    </a:lnTo>
                    <a:lnTo>
                      <a:pt x="0" y="288385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213ECE4-08AB-3995-9D6C-462B1ED17683}"/>
                  </a:ext>
                </a:extLst>
              </p:cNvPr>
              <p:cNvSpPr/>
              <p:nvPr/>
            </p:nvSpPr>
            <p:spPr>
              <a:xfrm>
                <a:off x="7189923" y="2800796"/>
                <a:ext cx="101128" cy="1246562"/>
              </a:xfrm>
              <a:custGeom>
                <a:avLst/>
                <a:gdLst>
                  <a:gd name="csX0" fmla="*/ 0 w 101128"/>
                  <a:gd name="csY0" fmla="*/ 0 h 1246562"/>
                  <a:gd name="csX1" fmla="*/ 101129 w 101128"/>
                  <a:gd name="csY1" fmla="*/ 0 h 1246562"/>
                  <a:gd name="csX2" fmla="*/ 101129 w 101128"/>
                  <a:gd name="csY2" fmla="*/ 1246562 h 1246562"/>
                  <a:gd name="csX3" fmla="*/ 0 w 101128"/>
                  <a:gd name="csY3" fmla="*/ 1246562 h 12465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1128" h="1246562">
                    <a:moveTo>
                      <a:pt x="0" y="0"/>
                    </a:moveTo>
                    <a:lnTo>
                      <a:pt x="101129" y="0"/>
                    </a:lnTo>
                    <a:lnTo>
                      <a:pt x="101129" y="1246562"/>
                    </a:lnTo>
                    <a:lnTo>
                      <a:pt x="0" y="1246562"/>
                    </a:lnTo>
                    <a:close/>
                  </a:path>
                </a:pathLst>
              </a:custGeom>
              <a:solidFill>
                <a:srgbClr val="FFFFFF"/>
              </a:solidFill>
              <a:ln w="6697" cap="flat">
                <a:noFill/>
                <a:prstDash val="solid"/>
                <a:miter/>
              </a:ln>
            </p:spPr>
          </p:sp>
        </p:grp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BAC31828-5056-37CB-2395-1D4A0502C3E0}"/>
              </a:ext>
            </a:extLst>
          </p:cNvPr>
          <p:cNvSpPr/>
          <p:nvPr/>
        </p:nvSpPr>
        <p:spPr>
          <a:xfrm>
            <a:off x="425019" y="512474"/>
            <a:ext cx="3707263" cy="5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3F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8326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445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IBM Plex Sans</vt:lpstr>
      <vt:lpstr>Outfit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Issam YOURANI</dc:creator>
  <cp:lastModifiedBy>Issam YOURANI</cp:lastModifiedBy>
  <cp:revision>3</cp:revision>
  <dcterms:created xsi:type="dcterms:W3CDTF">2026-04-10T22:39:33Z</dcterms:created>
  <dcterms:modified xsi:type="dcterms:W3CDTF">2026-04-11T00:59:11Z</dcterms:modified>
</cp:coreProperties>
</file>